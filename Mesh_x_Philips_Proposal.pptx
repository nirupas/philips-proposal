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00C6A0"/>
          </a:solidFill>
          <a:ln w="12700">
            <a:solidFill>
              <a:srgbClr val="00C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D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PROPOSAL · JUNE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retail
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
</a:t>
            </a:r>
            <a:pPr indent="0" marL="0">
              <a:buNone/>
            </a:pPr>
            <a:r>
              <a:rPr lang="en-US" sz="3200" b="1" dirty="0">
                <a:solidFill>
                  <a:srgbClr val="4D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waiting
</a:t>
            </a:r>
            <a:pPr indent="0" marL="0">
              <a:buNone/>
            </a:pPr>
            <a:r>
              <a:rPr lang="en-US" sz="3200" b="1" dirty="0">
                <a:solidFill>
                  <a:srgbClr val="4D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won.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Philips invests in world-class products.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makes sure those products win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that matters most — in-store.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06240" y="36576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1E2540"/>
          </a:solidFill>
          <a:ln w="12700">
            <a:solidFill>
              <a:srgbClr val="3D45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365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49240" y="36576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1E2540"/>
          </a:solidFill>
          <a:ln w="12700">
            <a:solidFill>
              <a:srgbClr val="3D4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365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66360" y="36576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1005840"/>
            <a:ext cx="4480560" cy="804672"/>
          </a:xfrm>
          <a:prstGeom prst="roundRect">
            <a:avLst>
              <a:gd name="adj" fmla="val 11364"/>
            </a:avLst>
          </a:prstGeom>
          <a:solidFill>
            <a:srgbClr val="131929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0607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43400" y="1426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sales lift per store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0" y="1993392"/>
            <a:ext cx="4480560" cy="804672"/>
          </a:xfrm>
          <a:prstGeom prst="roundRect">
            <a:avLst>
              <a:gd name="adj" fmla="val 11364"/>
            </a:avLst>
          </a:prstGeom>
          <a:solidFill>
            <a:srgbClr val="131929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0482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43400" y="24140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retail doors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06240" y="2980944"/>
            <a:ext cx="4480560" cy="804672"/>
          </a:xfrm>
          <a:prstGeom prst="roundRect">
            <a:avLst>
              <a:gd name="adj" fmla="val 11364"/>
            </a:avLst>
          </a:prstGeom>
          <a:solidFill>
            <a:srgbClr val="131929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30358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343400" y="3401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ambassadors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06240" y="3968496"/>
            <a:ext cx="4480560" cy="804672"/>
          </a:xfrm>
          <a:prstGeom prst="roundRect">
            <a:avLst>
              <a:gd name="adj" fmla="val 11364"/>
            </a:avLst>
          </a:prstGeom>
          <a:solidFill>
            <a:srgbClr val="131929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4023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343400" y="4389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states covered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06240" y="475488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Naiara, Mesh Agency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 GAP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doesn't sell itself.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FFF0EE"/>
          </a:solidFill>
          <a:ln w="12700">
            <a:solidFill>
              <a:srgbClr val="FFF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258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8470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purchases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in-store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123444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3258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50592" y="18470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sales uplift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live demos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26864" y="123444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FFF8E0"/>
          </a:solidFill>
          <a:ln w="12700">
            <a:solidFill>
              <a:srgbClr val="FFF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3258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26864" y="18470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confused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shelf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03136" y="123444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D0FAF2"/>
          </a:solidFill>
          <a:ln w="12700">
            <a:solidFill>
              <a:srgbClr val="D0FA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3136" y="13258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03136" y="18470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 retail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633472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8ED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" y="2724912"/>
            <a:ext cx="292608" cy="292608"/>
          </a:xfrm>
          <a:prstGeom prst="ellipse">
            <a:avLst/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8912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behaviour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401568"/>
            <a:ext cx="23774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research Philips online — then walk into a store and can't remember why they chose Philips over the brand beside it.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touchpoints → 1 confused moment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72968" y="2633472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8ED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37560" y="2724912"/>
            <a:ext cx="292608" cy="292608"/>
          </a:xfrm>
          <a:prstGeom prst="ellipse">
            <a:avLst/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37560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demos matter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3401568"/>
            <a:ext cx="23774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demonstration answers every objection, communicates value, and creates an emotional connection no shelf label can ever replicate.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demos = 15% sales lift in NSW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71616" y="2633472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8ED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36208" y="2724912"/>
            <a:ext cx="292608" cy="292608"/>
          </a:xfrm>
          <a:prstGeom prst="ellipse">
            <a:avLst/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36208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opportunity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36208" y="3401568"/>
            <a:ext cx="23774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field demonstrators every weekend. Without a professional presence, Philips cedes the most influential moment in the purchase journey.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CONVERSION GAP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without Mesh — and with.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3749040" cy="3749040"/>
          </a:xfrm>
          <a:prstGeom prst="roundRect">
            <a:avLst>
              <a:gd name="adj" fmla="val 3415"/>
            </a:avLst>
          </a:prstGeom>
          <a:solidFill>
            <a:srgbClr val="FFF5F5"/>
          </a:solidFill>
          <a:ln w="12700">
            <a:solidFill>
              <a:srgbClr val="FFCC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618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C2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MESH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201168" cy="201168"/>
          </a:xfrm>
          <a:prstGeom prst="ellipse">
            <a:avLst/>
          </a:prstGeom>
          <a:solidFill>
            <a:srgbClr val="FFCCC9"/>
          </a:solidFill>
          <a:ln w="12700">
            <a:solidFill>
              <a:srgbClr val="FFC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64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32688" y="1645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3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enters alone, unguided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231136"/>
            <a:ext cx="201168" cy="201168"/>
          </a:xfrm>
          <a:prstGeom prst="ellipse">
            <a:avLst/>
          </a:prstGeom>
          <a:solidFill>
            <a:srgbClr val="FFCCC9"/>
          </a:solidFill>
          <a:ln w="12700">
            <a:solidFill>
              <a:srgbClr val="FFCC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31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32688" y="2212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3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Confused by 12+ SKUs on shelf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798064"/>
            <a:ext cx="201168" cy="201168"/>
          </a:xfrm>
          <a:prstGeom prst="ellipse">
            <a:avLst/>
          </a:prstGeom>
          <a:solidFill>
            <a:srgbClr val="FFCCC9"/>
          </a:solidFill>
          <a:ln w="12700">
            <a:solidFill>
              <a:srgbClr val="FFC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98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32688" y="27797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3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Competitor's price wins by default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364992"/>
            <a:ext cx="201168" cy="201168"/>
          </a:xfrm>
          <a:prstGeom prst="ellipse">
            <a:avLst/>
          </a:prstGeom>
          <a:solidFill>
            <a:srgbClr val="FFCCC9"/>
          </a:solidFill>
          <a:ln w="12700">
            <a:solidFill>
              <a:srgbClr val="FFCC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649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932688" y="33467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3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story never told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931920"/>
            <a:ext cx="201168" cy="201168"/>
          </a:xfrm>
          <a:prstGeom prst="ellipse">
            <a:avLst/>
          </a:prstGeom>
          <a:solidFill>
            <a:srgbClr val="FFCCC9"/>
          </a:solidFill>
          <a:ln w="12700">
            <a:solidFill>
              <a:srgbClr val="FFCC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32688" y="3913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3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investment goes to waste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51960" y="2377440"/>
            <a:ext cx="640080" cy="640080"/>
          </a:xfrm>
          <a:prstGeom prst="ellipse">
            <a:avLst/>
          </a:prstGeom>
          <a:solidFill>
            <a:srgbClr val="E8EDFF"/>
          </a:solidFill>
          <a:ln w="12700">
            <a:solidFill>
              <a:srgbClr val="1A3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0" y="1115568"/>
            <a:ext cx="3749040" cy="3749040"/>
          </a:xfrm>
          <a:prstGeom prst="roundRect">
            <a:avLst>
              <a:gd name="adj" fmla="val 3415"/>
            </a:avLst>
          </a:prstGeom>
          <a:solidFill>
            <a:srgbClr val="F0FBF8"/>
          </a:solidFill>
          <a:ln w="12700">
            <a:solidFill>
              <a:srgbClr val="A0ED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12618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MESH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57800" y="1664208"/>
            <a:ext cx="201168" cy="201168"/>
          </a:xfrm>
          <a:prstGeom prst="ellipse">
            <a:avLst/>
          </a:prstGeom>
          <a:solidFill>
            <a:srgbClr val="B8F0DE"/>
          </a:solidFill>
          <a:ln w="12700">
            <a:solidFill>
              <a:srgbClr val="B8F0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1664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596128" y="1645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ambassador greets every shopper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57800" y="2231136"/>
            <a:ext cx="201168" cy="201168"/>
          </a:xfrm>
          <a:prstGeom prst="ellipse">
            <a:avLst/>
          </a:prstGeom>
          <a:solidFill>
            <a:srgbClr val="B8F0DE"/>
          </a:solidFill>
          <a:ln w="12700">
            <a:solidFill>
              <a:srgbClr val="B8F0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2231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596128" y="2212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benefits brought to life, live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57800" y="2798064"/>
            <a:ext cx="201168" cy="201168"/>
          </a:xfrm>
          <a:prstGeom prst="ellipse">
            <a:avLst/>
          </a:prstGeom>
          <a:solidFill>
            <a:srgbClr val="B8F0DE"/>
          </a:solidFill>
          <a:ln w="12700">
            <a:solidFill>
              <a:srgbClr val="B8F0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2798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596128" y="27797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 handled with authority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57800" y="3364992"/>
            <a:ext cx="201168" cy="201168"/>
          </a:xfrm>
          <a:prstGeom prst="ellipse">
            <a:avLst/>
          </a:prstGeom>
          <a:solidFill>
            <a:srgbClr val="B8F0DE"/>
          </a:solidFill>
          <a:ln w="12700">
            <a:solidFill>
              <a:srgbClr val="B8F0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33649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596128" y="33467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Philips brand story told compellingly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57800" y="3931920"/>
            <a:ext cx="201168" cy="201168"/>
          </a:xfrm>
          <a:prstGeom prst="ellipse">
            <a:avLst/>
          </a:prstGeom>
          <a:solidFill>
            <a:srgbClr val="B8F0DE"/>
          </a:solidFill>
          <a:ln w="12700">
            <a:solidFill>
              <a:srgbClr val="B8F0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57800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596128" y="3913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up — and repeat purchase too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COVERAGE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already in your stores.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states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123444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280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50592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 regions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26864" y="123444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280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26864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doors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03136" y="123444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3136" y="1280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03136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ambassadors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212848"/>
            <a:ext cx="8595360" cy="32004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31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State/Region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60320" y="2231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Stores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389120" y="2231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Demos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0" y="2231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Result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560320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633472"/>
            <a:ext cx="594360" cy="237744"/>
          </a:xfrm>
          <a:prstGeom prst="roundRect">
            <a:avLst>
              <a:gd name="adj" fmla="val 15385"/>
            </a:avLst>
          </a:prstGeom>
          <a:solidFill>
            <a:srgbClr val="D0FAF2"/>
          </a:solidFill>
          <a:ln w="12700">
            <a:solidFill>
              <a:srgbClr val="D0FA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6334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NSW ★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60320" y="26334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0" y="26334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640/mo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26334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15% sales lift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962656"/>
            <a:ext cx="8595360" cy="384048"/>
          </a:xfrm>
          <a:prstGeom prst="rect">
            <a:avLst/>
          </a:prstGeom>
          <a:solidFill>
            <a:srgbClr val="F7F8FC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035808"/>
            <a:ext cx="594360" cy="237744"/>
          </a:xfrm>
          <a:prstGeom prst="roundRect">
            <a:avLst>
              <a:gd name="adj" fmla="val 15385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03580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60320" y="30358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89120" y="30358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510/mo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30358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13% uplift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36499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438144"/>
            <a:ext cx="594360" cy="237744"/>
          </a:xfrm>
          <a:prstGeom prst="roundRect">
            <a:avLst>
              <a:gd name="adj" fmla="val 15385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43814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60320" y="34381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0" y="34381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410/mo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34381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18% vs no-demo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767328"/>
            <a:ext cx="8595360" cy="384048"/>
          </a:xfrm>
          <a:prstGeom prst="rect">
            <a:avLst/>
          </a:prstGeom>
          <a:solidFill>
            <a:srgbClr val="F7F8FC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840480"/>
            <a:ext cx="594360" cy="237744"/>
          </a:xfrm>
          <a:prstGeom prst="roundRect">
            <a:avLst>
              <a:gd name="adj" fmla="val 15385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8404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60320" y="38404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389120" y="38404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320/mo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0" y="38404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12% uplift H1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169664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4242816"/>
            <a:ext cx="594360" cy="237744"/>
          </a:xfrm>
          <a:prstGeom prst="roundRect">
            <a:avLst>
              <a:gd name="adj" fmla="val 15385"/>
            </a:avLst>
          </a:prstGeom>
          <a:solidFill>
            <a:srgbClr val="F0ECFF"/>
          </a:solidFill>
          <a:ln w="12700">
            <a:solidFill>
              <a:srgbClr val="F0EC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2428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60320" y="42428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389120" y="42428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190/mo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17920" y="42428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11% in 60 days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F7F8FC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" y="4645152"/>
            <a:ext cx="594360" cy="237744"/>
          </a:xfrm>
          <a:prstGeom prst="roundRect">
            <a:avLst>
              <a:gd name="adj" fmla="val 15385"/>
            </a:avLst>
          </a:prstGeom>
          <a:solidFill>
            <a:srgbClr val="D0FAF2"/>
          </a:solidFill>
          <a:ln w="12700">
            <a:solidFill>
              <a:srgbClr val="D0FA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6451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60320" y="4645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389120" y="4645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390/mo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217920" y="46451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+14% JB Hi-Fi NZ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PHILIPS STORE VISIT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confused to converted.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1572768" cy="3566160"/>
          </a:xfrm>
          <a:prstGeom prst="roundRect">
            <a:avLst>
              <a:gd name="adj" fmla="val 8140"/>
            </a:avLst>
          </a:prstGeom>
          <a:solidFill>
            <a:srgbClr val="131929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61872"/>
            <a:ext cx="566928" cy="566928"/>
          </a:xfrm>
          <a:prstGeom prst="ellipse">
            <a:avLst/>
          </a:prstGeom>
          <a:solidFill>
            <a:srgbClr val="E0E8FF"/>
          </a:solidFill>
          <a:ln w="12700">
            <a:solidFill>
              <a:srgbClr val="E0E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61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store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389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curious, ready to discover Philips.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47088" y="233172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11680" y="1115568"/>
            <a:ext cx="1572768" cy="3566160"/>
          </a:xfrm>
          <a:prstGeom prst="roundRect">
            <a:avLst>
              <a:gd name="adj" fmla="val 8140"/>
            </a:avLst>
          </a:prstGeom>
          <a:solidFill>
            <a:srgbClr val="131929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261872"/>
            <a:ext cx="566928" cy="566928"/>
          </a:xfrm>
          <a:prstGeom prst="ellipse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261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19659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shelf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03120" y="2423160"/>
            <a:ext cx="1389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SKUs. No guidance. Competitor is louder.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84448" y="233172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1115568"/>
            <a:ext cx="1572768" cy="3566160"/>
          </a:xfrm>
          <a:prstGeom prst="roundRect">
            <a:avLst>
              <a:gd name="adj" fmla="val 8140"/>
            </a:avLst>
          </a:prstGeom>
          <a:solidFill>
            <a:srgbClr val="131929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1261872"/>
            <a:ext cx="566928" cy="566928"/>
          </a:xfrm>
          <a:prstGeom prst="ellipse">
            <a:avLst/>
          </a:prstGeom>
          <a:solidFill>
            <a:srgbClr val="FFCCC9"/>
          </a:solidFill>
          <a:ln w="12700">
            <a:solidFill>
              <a:srgbClr val="FFCC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1261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19659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paralysis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0480" y="2423160"/>
            <a:ext cx="1389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abandon here. The crisis moment.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21808" y="233172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0" y="1115568"/>
            <a:ext cx="1572768" cy="3566160"/>
          </a:xfrm>
          <a:prstGeom prst="roundRect">
            <a:avLst>
              <a:gd name="adj" fmla="val 8140"/>
            </a:avLst>
          </a:prstGeom>
          <a:solidFill>
            <a:srgbClr val="131929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1261872"/>
            <a:ext cx="566928" cy="566928"/>
          </a:xfrm>
          <a:prstGeom prst="ellipse">
            <a:avLst/>
          </a:prstGeom>
          <a:solidFill>
            <a:srgbClr val="E0D8FF"/>
          </a:solidFill>
          <a:ln w="12700">
            <a:solidFill>
              <a:srgbClr val="E0D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1261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19659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engages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77840" y="2423160"/>
            <a:ext cx="1389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demo. Brand story. Every objection answered.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59168" y="233172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23760" y="1115568"/>
            <a:ext cx="1572768" cy="3566160"/>
          </a:xfrm>
          <a:prstGeom prst="roundRect">
            <a:avLst>
              <a:gd name="adj" fmla="val 8140"/>
            </a:avLst>
          </a:prstGeom>
          <a:solidFill>
            <a:srgbClr val="131929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6680" y="1261872"/>
            <a:ext cx="566928" cy="566928"/>
          </a:xfrm>
          <a:prstGeom prst="ellipse">
            <a:avLst/>
          </a:prstGeom>
          <a:solidFill>
            <a:srgbClr val="B8F0DE"/>
          </a:solidFill>
          <a:ln w="12700">
            <a:solidFill>
              <a:srgbClr val="B8F0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680" y="1261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0" y="19659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15200" y="2423160"/>
            <a:ext cx="1389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with confidence. Premium justified. They're back.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4709160"/>
            <a:ext cx="8595360" cy="274320"/>
          </a:xfrm>
          <a:prstGeom prst="roundRect">
            <a:avLst>
              <a:gd name="adj" fmla="val 26667"/>
            </a:avLst>
          </a:prstGeom>
          <a:solidFill>
            <a:srgbClr val="131929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274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bridges steps 3 → 5. That's the revenue Philips is leaving on the table today.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86800" y="45720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MESH BRINGS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Philips. Focused on results.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06908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8ED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" y="1399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89280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180+ Philips-certified brand ambassadors. Deployed at peak traffic, in the stores that matter most. They represent Philips — no one else.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406908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8ED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73752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0FAF2"/>
          </a:solidFill>
          <a:ln w="12700">
            <a:solidFill>
              <a:srgbClr val="D0FA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58968" y="1399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189280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demo, every conversion, every store — tracked in real time. See which SKUs convert and where to deploy resource next week.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063240"/>
            <a:ext cx="406908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8ED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0ECFF"/>
          </a:solidFill>
          <a:ln w="12700">
            <a:solidFill>
              <a:srgbClr val="F0E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9848" y="3227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training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" y="372160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ambassador completes Philips brand immersion — product tech, brand values, competitor positioning. They believe in what they sell.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063240"/>
            <a:ext cx="406908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8ED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73752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0EE"/>
          </a:solidFill>
          <a:ln w="12700">
            <a:solidFill>
              <a:srgbClr val="FFF0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58968" y="3227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engine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3752" y="372160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sales data drives redeployment. Teams briefed on new competition in real time. QBRs with Philips leadership keep strategy sharp.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681728"/>
            <a:ext cx="2697480" cy="347472"/>
          </a:xfrm>
          <a:prstGeom prst="roundRect">
            <a:avLst>
              <a:gd name="adj" fmla="val 21053"/>
            </a:avLst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6817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 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1288" y="46817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· 10+ demos/store/month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46120" y="4681728"/>
            <a:ext cx="2697480" cy="347472"/>
          </a:xfrm>
          <a:prstGeom prst="roundRect">
            <a:avLst>
              <a:gd name="adj" fmla="val 21053"/>
            </a:avLst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46817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  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087368" y="46817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repurchase rate · demo-converted shoppers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72200" y="4681728"/>
            <a:ext cx="2697480" cy="347472"/>
          </a:xfrm>
          <a:prstGeom prst="roundRect">
            <a:avLst>
              <a:gd name="adj" fmla="val 21053"/>
            </a:avLst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46817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 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13448" y="46817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from Philips demos · vs 41 category avg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50 stores could look like for Philips.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8ED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618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3657600" cy="4572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activated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6080" y="17373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per store / month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0" y="22677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24912"/>
            <a:ext cx="3657600" cy="4572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unit sale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0" y="279806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255264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46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conversion rate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26080" y="332841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785616"/>
            <a:ext cx="3657600" cy="4572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77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cost per session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0" y="38587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1097280"/>
            <a:ext cx="4206240" cy="3657600"/>
          </a:xfrm>
          <a:prstGeom prst="roundRect">
            <a:avLst>
              <a:gd name="adj" fmla="val 3500"/>
            </a:avLst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returns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1719072"/>
            <a:ext cx="3886200" cy="5943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7739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lift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28032" y="20208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stores × 10 demos × 30% × $180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995160" y="177393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$27K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709160" y="2395728"/>
            <a:ext cx="3886200" cy="5943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450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lift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28032" y="2697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× 12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995160" y="24505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$324K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709160" y="3072384"/>
            <a:ext cx="3886200" cy="5943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investment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28032" y="33741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× 10 × $22 × 12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995160" y="31272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$132K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709160" y="3749040"/>
            <a:ext cx="3886200" cy="594360"/>
          </a:xfrm>
          <a:prstGeom prst="rect">
            <a:avLst/>
          </a:prstGeom>
          <a:solidFill>
            <a:srgbClr val="0A1F1A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38039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ROI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28032" y="40507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lift ÷ investment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995160" y="380390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3.1×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6576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Mesh average conversion data. Illustrative purposes.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kickoff to growth engine running.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12848"/>
            <a:ext cx="7680960" cy="0"/>
          </a:xfrm>
          <a:prstGeom prst="line">
            <a:avLst/>
          </a:prstGeom>
          <a:noFill/>
          <a:ln w="25400">
            <a:solidFill>
              <a:srgbClr val="E8ED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2103120"/>
            <a:ext cx="228600" cy="228600"/>
          </a:xfrm>
          <a:prstGeom prst="ellipse">
            <a:avLst/>
          </a:prstGeom>
          <a:solidFill>
            <a:srgbClr val="1A3CFF"/>
          </a:solidFill>
          <a:ln w="12700">
            <a:solidFill>
              <a:srgbClr val="1A3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5270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920240" cy="2395728"/>
          </a:xfrm>
          <a:prstGeom prst="roundRect">
            <a:avLst>
              <a:gd name="adj" fmla="val 5714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63347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980944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audit, retailer mapping, shopper research, stakeholder alignment.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72968" y="2103120"/>
            <a:ext cx="228600" cy="228600"/>
          </a:xfrm>
          <a:prstGeom prst="ellipse">
            <a:avLst/>
          </a:prstGeom>
          <a:solidFill>
            <a:srgbClr val="7B5CF0"/>
          </a:solidFill>
          <a:ln w="12700">
            <a:solidFill>
              <a:srgbClr val="7B5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280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06040" y="15270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606040" y="2487168"/>
            <a:ext cx="1920240" cy="2395728"/>
          </a:xfrm>
          <a:prstGeom prst="roundRect">
            <a:avLst>
              <a:gd name="adj" fmla="val 5714"/>
            </a:avLst>
          </a:prstGeom>
          <a:solidFill>
            <a:srgbClr val="F0ECFF"/>
          </a:solidFill>
          <a:ln w="12700">
            <a:solidFill>
              <a:srgbClr val="F0E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15768" y="263347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15768" y="2980944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B5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retail partners activated. First demo cycles live. Early ROI signals reported.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30368" y="2103120"/>
            <a:ext cx="228600" cy="228600"/>
          </a:xfrm>
          <a:prstGeom prst="ellipse">
            <a:avLst/>
          </a:prstGeom>
          <a:solidFill>
            <a:srgbClr val="00C6A0"/>
          </a:solidFill>
          <a:ln w="12700">
            <a:solidFill>
              <a:srgbClr val="00C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280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3440" y="15270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7–9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63440" y="2487168"/>
            <a:ext cx="1920240" cy="2395728"/>
          </a:xfrm>
          <a:prstGeom prst="roundRect">
            <a:avLst>
              <a:gd name="adj" fmla="val 5714"/>
            </a:avLst>
          </a:prstGeom>
          <a:solidFill>
            <a:srgbClr val="D0FAF2"/>
          </a:solidFill>
          <a:ln w="12700">
            <a:solidFill>
              <a:srgbClr val="D0FA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63347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3168" y="2980944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executions rolled to full account list. Retailer media scaled.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87768" y="2103120"/>
            <a:ext cx="228600" cy="228600"/>
          </a:xfrm>
          <a:prstGeom prst="ellipse">
            <a:avLst/>
          </a:prstGeom>
          <a:solidFill>
            <a:srgbClr val="FF5C4D"/>
          </a:solidFill>
          <a:ln w="12700">
            <a:solidFill>
              <a:srgbClr val="FF5C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280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20840" y="15270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10–12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720840" y="2487168"/>
            <a:ext cx="1920240" cy="2395728"/>
          </a:xfrm>
          <a:prstGeom prst="roundRect">
            <a:avLst>
              <a:gd name="adj" fmla="val 5714"/>
            </a:avLst>
          </a:prstGeom>
          <a:solidFill>
            <a:srgbClr val="FFF0EE"/>
          </a:solidFill>
          <a:ln w="12700">
            <a:solidFill>
              <a:srgbClr val="FFF0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0568" y="263347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30568" y="2980944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accounts live. Dashboard running. Annual planning cycle for 2028 begins.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D1525"/>
          </a:solidFill>
          <a:ln w="12700">
            <a:solidFill>
              <a:srgbClr val="0D15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TOGETHER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better retail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 together.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Philips makes products that improve lives.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makes sure those products get the retail moment they deserve —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human story, at scale, backed by live data.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131929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090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04672" y="34015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scope call with your commercial lead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0" y="297180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131929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3090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39312" y="34015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9312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proposal within 5 business days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309360" y="297180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131929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3090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73952" y="34015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73952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store activations live within 2 weeks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080" y="47731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Naiara  ·  Mesh Agency  ·  naiara@meshagency.com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 × Philips – Retail Growth Proposal</dc:title>
  <dc:subject>PptxGenJS Presentation</dc:subject>
  <dc:creator>Mesh Agency</dc:creator>
  <cp:lastModifiedBy>Mesh Agency</cp:lastModifiedBy>
  <cp:revision>1</cp:revision>
  <dcterms:created xsi:type="dcterms:W3CDTF">2026-06-15T06:28:25Z</dcterms:created>
  <dcterms:modified xsi:type="dcterms:W3CDTF">2026-06-15T06:28:25Z</dcterms:modified>
</cp:coreProperties>
</file>